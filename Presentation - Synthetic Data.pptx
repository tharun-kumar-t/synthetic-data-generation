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eorgia Pro Light" charset="1" panose="02040302050405020303"/>
      <p:regular r:id="rId12"/>
    </p:embeddedFont>
    <p:embeddedFont>
      <p:font typeface="DM Sans" charset="1" panose="00000000000000000000"/>
      <p:regular r:id="rId13"/>
    </p:embeddedFont>
    <p:embeddedFont>
      <p:font typeface="DM Sans Bold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91600" cy="10287000"/>
            <a:chOff x="0" y="0"/>
            <a:chExt cx="1035548" cy="1184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5548" cy="1184737"/>
            </a:xfrm>
            <a:custGeom>
              <a:avLst/>
              <a:gdLst/>
              <a:ahLst/>
              <a:cxnLst/>
              <a:rect r="r" b="b" t="t" l="l"/>
              <a:pathLst>
                <a:path h="1184737" w="1035548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l="0" t="-378" r="0" b="-37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44200" y="666750"/>
            <a:ext cx="6877050" cy="585084"/>
            <a:chOff x="0" y="0"/>
            <a:chExt cx="9169400" cy="780112"/>
          </a:xfrm>
        </p:grpSpPr>
        <p:sp>
          <p:nvSpPr>
            <p:cNvPr name="Freeform 5" id="5"/>
            <p:cNvSpPr/>
            <p:nvPr/>
          </p:nvSpPr>
          <p:spPr>
            <a:xfrm flipH="true" flipV="false" rot="-5400000">
              <a:off x="36553" y="74861"/>
              <a:ext cx="555143" cy="628248"/>
            </a:xfrm>
            <a:custGeom>
              <a:avLst/>
              <a:gdLst/>
              <a:ahLst/>
              <a:cxnLst/>
              <a:rect r="r" b="b" t="t" l="l"/>
              <a:pathLst>
                <a:path h="628248" w="555143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795304" y="95250"/>
              <a:ext cx="8374096" cy="684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5"/>
                </a:lnSpc>
              </a:pPr>
              <a:r>
                <a:rPr lang="en-US" sz="3864" spc="-77">
                  <a:solidFill>
                    <a:srgbClr val="0A121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SWELL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734675" y="1762125"/>
            <a:ext cx="6886575" cy="2714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99"/>
              </a:lnSpc>
            </a:pPr>
            <a:r>
              <a:rPr lang="en-US" sz="10499">
                <a:solidFill>
                  <a:srgbClr val="0A1218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Synthetic Data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744200" y="8740903"/>
            <a:ext cx="5743575" cy="888872"/>
            <a:chOff x="0" y="0"/>
            <a:chExt cx="7658100" cy="118516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91344"/>
              <a:ext cx="7658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A1218"/>
                  </a:solidFill>
                  <a:latin typeface="DM Sans"/>
                  <a:ea typeface="DM Sans"/>
                  <a:cs typeface="DM Sans"/>
                  <a:sym typeface="DM Sans"/>
                </a:rPr>
                <a:t>TELUGU THARUN KUMAR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7658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A121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PRESENTED BY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747081"/>
            <a:chOff x="0" y="0"/>
            <a:chExt cx="11099800" cy="49961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3040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0A121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SWELL Dataset Overview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33703"/>
              <a:ext cx="110998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A1218"/>
                  </a:solidFill>
                  <a:latin typeface="DM Sans"/>
                  <a:ea typeface="DM Sans"/>
                  <a:cs typeface="DM Sans"/>
                  <a:sym typeface="DM Sans"/>
                </a:rPr>
                <a:t>The SWELL HRV dataset, sourced from Kaggle, </a:t>
              </a:r>
              <a:r>
                <a:rPr lang="en-US" b="true" sz="2100">
                  <a:solidFill>
                    <a:srgbClr val="0A121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segments 10-minute windows</a:t>
              </a:r>
              <a:r>
                <a:rPr lang="en-US" sz="2100">
                  <a:solidFill>
                    <a:srgbClr val="0A1218"/>
                  </a:solidFill>
                  <a:latin typeface="DM Sans"/>
                  <a:ea typeface="DM Sans"/>
                  <a:cs typeface="DM Sans"/>
                  <a:sym typeface="DM Sans"/>
                </a:rPr>
                <a:t> of heart rate variability, encompassing critical metrics for stress analysis and subsequent modeling processes.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6750" y="3797995"/>
            <a:ext cx="10601475" cy="4856745"/>
          </a:xfrm>
          <a:custGeom>
            <a:avLst/>
            <a:gdLst/>
            <a:ahLst/>
            <a:cxnLst/>
            <a:rect r="r" b="b" t="t" l="l"/>
            <a:pathLst>
              <a:path h="4856745" w="10601475">
                <a:moveTo>
                  <a:pt x="0" y="0"/>
                </a:moveTo>
                <a:lnTo>
                  <a:pt x="10601475" y="0"/>
                </a:lnTo>
                <a:lnTo>
                  <a:pt x="10601475" y="4856745"/>
                </a:lnTo>
                <a:lnTo>
                  <a:pt x="0" y="4856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0" t="0" r="-62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324850" cy="2632656"/>
            <a:chOff x="0" y="0"/>
            <a:chExt cx="11099800" cy="351020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0A121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Justifying CTGAN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47803"/>
              <a:ext cx="110998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A1218"/>
                  </a:solidFill>
                  <a:latin typeface="DM Sans"/>
                  <a:ea typeface="DM Sans"/>
                  <a:cs typeface="DM Sans"/>
                  <a:sym typeface="DM Sans"/>
                </a:rPr>
                <a:t>CTGAN is essential for </a:t>
              </a:r>
              <a:r>
                <a:rPr lang="en-US" b="true" sz="2100">
                  <a:solidFill>
                    <a:srgbClr val="0A121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synthetic HRV signal generation</a:t>
              </a:r>
              <a:r>
                <a:rPr lang="en-US" sz="2100">
                  <a:solidFill>
                    <a:srgbClr val="0A1218"/>
                  </a:solidFill>
                  <a:latin typeface="DM Sans"/>
                  <a:ea typeface="DM Sans"/>
                  <a:cs typeface="DM Sans"/>
                  <a:sym typeface="DM Sans"/>
                </a:rPr>
                <a:t>, effectively handling mixed-type data and imbalances while preserving the critical </a:t>
              </a:r>
              <a:r>
                <a:rPr lang="en-US" b="true" sz="2100">
                  <a:solidFill>
                    <a:srgbClr val="0A121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stress-related patterns</a:t>
              </a:r>
              <a:r>
                <a:rPr lang="en-US" sz="2100">
                  <a:solidFill>
                    <a:srgbClr val="0A1218"/>
                  </a:solidFill>
                  <a:latin typeface="DM Sans"/>
                  <a:ea typeface="DM Sans"/>
                  <a:cs typeface="DM Sans"/>
                  <a:sym typeface="DM Sans"/>
                </a:rPr>
                <a:t> inherent in HRV metrics.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91600" y="1828198"/>
            <a:ext cx="9020193" cy="7193604"/>
          </a:xfrm>
          <a:custGeom>
            <a:avLst/>
            <a:gdLst/>
            <a:ahLst/>
            <a:cxnLst/>
            <a:rect r="r" b="b" t="t" l="l"/>
            <a:pathLst>
              <a:path h="7193604" w="9020193">
                <a:moveTo>
                  <a:pt x="0" y="0"/>
                </a:moveTo>
                <a:lnTo>
                  <a:pt x="9020193" y="0"/>
                </a:lnTo>
                <a:lnTo>
                  <a:pt x="9020193" y="7193604"/>
                </a:lnTo>
                <a:lnTo>
                  <a:pt x="0" y="7193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324850" cy="4118556"/>
            <a:chOff x="0" y="0"/>
            <a:chExt cx="11099800" cy="549140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11099800" cy="3040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0A121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Synthetic vs Real Comparison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33703"/>
              <a:ext cx="110998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A1218"/>
                  </a:solidFill>
                  <a:latin typeface="DM Sans"/>
                  <a:ea typeface="DM Sans"/>
                  <a:cs typeface="DM Sans"/>
                  <a:sym typeface="DM Sans"/>
                </a:rPr>
                <a:t>This section highlights the </a:t>
              </a:r>
              <a:r>
                <a:rPr lang="en-US" b="true" sz="2100">
                  <a:solidFill>
                    <a:srgbClr val="0A121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similarities between synthetic and real HRV data</a:t>
              </a:r>
              <a:r>
                <a:rPr lang="en-US" sz="2100">
                  <a:solidFill>
                    <a:srgbClr val="0A1218"/>
                  </a:solidFill>
                  <a:latin typeface="DM Sans"/>
                  <a:ea typeface="DM Sans"/>
                  <a:cs typeface="DM Sans"/>
                  <a:sym typeface="DM Sans"/>
                </a:rPr>
                <a:t>, demonstrating that our CTGAN-generated sequences effectively replicate the characteristics of genuine human heart rate variability.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0734675" cy="10287000"/>
          </a:xfrm>
          <a:prstGeom prst="rect">
            <a:avLst/>
          </a:prstGeom>
          <a:solidFill>
            <a:srgbClr val="244257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3819797" y="3932181"/>
            <a:ext cx="14468203" cy="5074154"/>
          </a:xfrm>
          <a:custGeom>
            <a:avLst/>
            <a:gdLst/>
            <a:ahLst/>
            <a:cxnLst/>
            <a:rect r="r" b="b" t="t" l="l"/>
            <a:pathLst>
              <a:path h="5074154" w="14468203">
                <a:moveTo>
                  <a:pt x="0" y="0"/>
                </a:moveTo>
                <a:lnTo>
                  <a:pt x="14468203" y="0"/>
                </a:lnTo>
                <a:lnTo>
                  <a:pt x="14468203" y="5074154"/>
                </a:lnTo>
                <a:lnTo>
                  <a:pt x="0" y="50741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93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733425"/>
            <a:ext cx="9763125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2F7F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Evaluation Metrics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4248150"/>
            <a:ext cx="4010025" cy="1277770"/>
            <a:chOff x="0" y="0"/>
            <a:chExt cx="5346700" cy="170369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31889"/>
              <a:ext cx="53467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2F7FA"/>
                  </a:solidFill>
                  <a:latin typeface="DM Sans"/>
                  <a:ea typeface="DM Sans"/>
                  <a:cs typeface="DM Sans"/>
                  <a:sym typeface="DM Sans"/>
                </a:rPr>
                <a:t>0.8775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5346700" cy="1140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3"/>
                </a:lnSpc>
              </a:pPr>
              <a:r>
                <a:rPr lang="en-US" b="true" sz="2502">
                  <a:solidFill>
                    <a:srgbClr val="F2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RANDOM FOREST ACCURACY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049448"/>
            <a:ext cx="4010025" cy="839620"/>
            <a:chOff x="0" y="0"/>
            <a:chExt cx="5346700" cy="111949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47689"/>
              <a:ext cx="53467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2F7FA"/>
                  </a:solidFill>
                  <a:latin typeface="DM Sans"/>
                  <a:ea typeface="DM Sans"/>
                  <a:cs typeface="DM Sans"/>
                  <a:sym typeface="DM Sans"/>
                </a:rPr>
                <a:t>0.9188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5346700" cy="5565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3"/>
                </a:lnSpc>
              </a:pPr>
              <a:r>
                <a:rPr lang="en-US" b="true" sz="2502">
                  <a:solidFill>
                    <a:srgbClr val="F2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MLP ACCURACY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7829550"/>
            <a:ext cx="4010025" cy="839620"/>
            <a:chOff x="0" y="0"/>
            <a:chExt cx="5346700" cy="111949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47689"/>
              <a:ext cx="53467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2F7FA"/>
                  </a:solidFill>
                  <a:latin typeface="DM Sans"/>
                  <a:ea typeface="DM Sans"/>
                  <a:cs typeface="DM Sans"/>
                  <a:sym typeface="DM Sans"/>
                </a:rPr>
                <a:t>≈ 0.90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5346700" cy="5565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3"/>
                </a:lnSpc>
              </a:pPr>
              <a:r>
                <a:rPr lang="en-US" b="true" sz="2502">
                  <a:solidFill>
                    <a:srgbClr val="F2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F1 SCORE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4118556"/>
            <a:chOff x="0" y="0"/>
            <a:chExt cx="11099800" cy="54914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3040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0A121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Conclusions &amp; Insights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33703"/>
              <a:ext cx="110998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A1218"/>
                  </a:solidFill>
                  <a:latin typeface="DM Sans"/>
                  <a:ea typeface="DM Sans"/>
                  <a:cs typeface="DM Sans"/>
                  <a:sym typeface="DM Sans"/>
                </a:rPr>
                <a:t>The </a:t>
              </a:r>
              <a:r>
                <a:rPr lang="en-US" b="true" sz="2100">
                  <a:solidFill>
                    <a:srgbClr val="0A121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CTGAN approach effectively preserved</a:t>
              </a:r>
              <a:r>
                <a:rPr lang="en-US" sz="2100">
                  <a:solidFill>
                    <a:srgbClr val="0A1218"/>
                  </a:solidFill>
                  <a:latin typeface="DM Sans"/>
                  <a:ea typeface="DM Sans"/>
                  <a:cs typeface="DM Sans"/>
                  <a:sym typeface="DM Sans"/>
                </a:rPr>
                <a:t> HRV stress patterns, validating the </a:t>
              </a:r>
              <a:r>
                <a:rPr lang="en-US" b="true" sz="2100">
                  <a:solidFill>
                    <a:srgbClr val="0A121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high-quality synthetic data</a:t>
              </a:r>
              <a:r>
                <a:rPr lang="en-US" sz="2100">
                  <a:solidFill>
                    <a:srgbClr val="0A1218"/>
                  </a:solidFill>
                  <a:latin typeface="DM Sans"/>
                  <a:ea typeface="DM Sans"/>
                  <a:cs typeface="DM Sans"/>
                  <a:sym typeface="DM Sans"/>
                </a:rPr>
                <a:t> generated, which enables privacy-preserving modeling and scalable augmentation for future research.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Synthetic Data</dc:description>
  <dc:identifier>DAG4fPmF4QI</dc:identifier>
  <dcterms:modified xsi:type="dcterms:W3CDTF">2011-08-01T06:04:30Z</dcterms:modified>
  <cp:revision>1</cp:revision>
  <dc:title>Presentation - Synthetic Data</dc:title>
</cp:coreProperties>
</file>